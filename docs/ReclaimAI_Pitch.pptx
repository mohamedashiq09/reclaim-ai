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548640" y="64008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548640" y="2286000"/>
            <a:ext cx="8046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  <a:defRPr b="1" i="0" sz="3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48640" y="64008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ReclaimAI</a:t>
            </a:r>
            <a:endParaRPr sz="4400"/>
          </a:p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48640" y="2286000"/>
            <a:ext cx="8046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>
                <a:solidFill>
                  <a:schemeClr val="lt2"/>
                </a:solidFill>
              </a:rPr>
              <a:t>From complaint to refund, inside one ASI:One chat</a:t>
            </a:r>
            <a:endParaRPr sz="1800"/>
          </a:p>
        </p:txBody>
      </p:sp>
      <p:sp>
        <p:nvSpPr>
          <p:cNvPr id="23" name="Google Shape;23;p5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365760" y="41148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Concierge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2148840" y="338328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1965960" y="41148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Researcher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3749040" y="338328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3566160" y="41148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Drafter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5349240" y="338328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5166360" y="41148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Dispatcher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6949440" y="338328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6766560" y="41148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Watcher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Fetch-A-Thon 3.0, ASI:One Agent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dk2"/>
                </a:solidFill>
              </a:rPr>
              <a:t>Refunds people never claim</a:t>
            </a:r>
            <a:endParaRPr sz="3600"/>
          </a:p>
        </p:txBody>
      </p:sp>
      <p:sp>
        <p:nvSpPr>
          <p:cNvPr id="40" name="Google Shape;40;p6"/>
          <p:cNvSpPr/>
          <p:nvPr/>
        </p:nvSpPr>
        <p:spPr>
          <a:xfrm>
            <a:off x="457200" y="1463040"/>
            <a:ext cx="2651760" cy="2834640"/>
          </a:xfrm>
          <a:prstGeom prst="roundRect">
            <a:avLst>
              <a:gd fmla="val 413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685800" y="246888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They don’t know their rights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85800" y="324612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law sets clear deadlines. Few people can cite them.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3246120" y="1463040"/>
            <a:ext cx="2651760" cy="2834640"/>
          </a:xfrm>
          <a:prstGeom prst="roundRect">
            <a:avLst>
              <a:gd fmla="val 413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3474720" y="169164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3474720" y="246888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They don’t know who to write 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3474720" y="324612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Grievance officers exist, but finding the right one is a maze.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035040" y="1463040"/>
            <a:ext cx="2651760" cy="2834640"/>
          </a:xfrm>
          <a:prstGeom prst="roundRect">
            <a:avLst>
              <a:gd fmla="val 413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6263640" y="246888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Nobody follows up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6263640" y="324612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Companies stall. People tire out and the refund is never claimed.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dk2"/>
                </a:solidFill>
              </a:rPr>
              <a:t>One chat, five agents</a:t>
            </a:r>
            <a:endParaRPr sz="3600"/>
          </a:p>
        </p:txBody>
      </p:sp>
      <p:sp>
        <p:nvSpPr>
          <p:cNvPr id="58" name="Google Shape;58;p7"/>
          <p:cNvSpPr/>
          <p:nvPr/>
        </p:nvSpPr>
        <p:spPr>
          <a:xfrm>
            <a:off x="457200" y="1417320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1188720" y="1417320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Concierge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017520" y="1417320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Chats with you, shows cards, takes payment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457200" y="2093976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1188720" y="2093976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Researcher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17520" y="2093976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the law and the grievance contact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57200" y="2770632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1188720" y="2770632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Drafter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3017520" y="2770632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 the formal notice with citations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57200" y="3447288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1188720" y="3447288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Dispatcher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017520" y="3447288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the email and retries on failure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457200" y="4123944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1188720" y="4123944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Watcher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3017520" y="4123944"/>
            <a:ext cx="5669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Checks deadlines and escalates on its own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dk2"/>
                </a:solidFill>
              </a:rPr>
              <a:t>From complaint to action</a:t>
            </a:r>
            <a:endParaRPr sz="3600"/>
          </a:p>
        </p:txBody>
      </p:sp>
      <p:sp>
        <p:nvSpPr>
          <p:cNvPr id="79" name="Google Shape;79;p8"/>
          <p:cNvSpPr/>
          <p:nvPr/>
        </p:nvSpPr>
        <p:spPr>
          <a:xfrm>
            <a:off x="457200" y="1463040"/>
            <a:ext cx="1554480" cy="20116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594360" y="2148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Describe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594360" y="256032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 English in chat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2125980" y="1463040"/>
            <a:ext cx="1554480" cy="20116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226314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2263140" y="2148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2263140" y="256032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Law and contact, with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3794760" y="1463040"/>
            <a:ext cx="1554480" cy="20116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393192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3931920" y="2148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3931920" y="256032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 the drafted notice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5463540" y="1463040"/>
            <a:ext cx="1554480" cy="20116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560070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5600700" y="2148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5600700" y="256032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real email goes 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7132320" y="1463040"/>
            <a:ext cx="1554480" cy="20116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726948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7269480" y="2148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7269480" y="256032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Auto-escalation if no reply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You only click buttons. Five agents do the work behind the scenes.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title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dk2"/>
                </a:solidFill>
              </a:rPr>
              <a:t>Built on the Fetch.ai stack</a:t>
            </a:r>
            <a:endParaRPr sz="3600"/>
          </a:p>
        </p:txBody>
      </p:sp>
      <p:sp>
        <p:nvSpPr>
          <p:cNvPr id="106" name="Google Shape;106;p9"/>
          <p:cNvSpPr/>
          <p:nvPr/>
        </p:nvSpPr>
        <p:spPr>
          <a:xfrm>
            <a:off x="457200" y="1463040"/>
            <a:ext cx="2651760" cy="13716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685800" y="166420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1005840" y="160020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Agentverse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685800" y="210312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agents registered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3246120" y="1463040"/>
            <a:ext cx="2651760" cy="13716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3474720" y="166420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3794760" y="160020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Agent Chat Protocol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3474720" y="210312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agent speaks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6035040" y="1463040"/>
            <a:ext cx="2651760" cy="13716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6263640" y="166420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 txBox="1"/>
          <p:nvPr/>
        </p:nvSpPr>
        <p:spPr>
          <a:xfrm>
            <a:off x="6583680" y="160020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ASI1 LLM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6263640" y="210312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Understands intent, drafts the notice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457200" y="2971800"/>
            <a:ext cx="2651760" cy="13716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685800" y="317296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 txBox="1"/>
          <p:nvPr/>
        </p:nvSpPr>
        <p:spPr>
          <a:xfrm>
            <a:off x="1005840" y="310896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Interactive cards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685800" y="36118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and detail cards in chat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3246120" y="2971800"/>
            <a:ext cx="2651760" cy="13716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474720" y="317296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3794760" y="310896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Payment Protocol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3474720" y="36118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0.001 FET testnet tracking pack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035040" y="2971800"/>
            <a:ext cx="2651760" cy="13716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263640" y="317296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 txBox="1"/>
          <p:nvPr/>
        </p:nvSpPr>
        <p:spPr>
          <a:xfrm>
            <a:off x="6583680" y="310896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Real 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6263640" y="36118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Tavily search and Resend 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548640" y="64008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Intent to action, without the paperwork</a:t>
            </a:r>
            <a:endParaRPr sz="4400"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548640" y="2286000"/>
            <a:ext cx="8046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>
                <a:solidFill>
                  <a:schemeClr val="lt2"/>
                </a:solidFill>
              </a:rPr>
              <a:t>A cited notice, a real email, and an escalation timer that runs on its own.</a:t>
            </a:r>
            <a:endParaRPr sz="1800"/>
          </a:p>
          <a:p>
            <a:pPr indent="0" lvl="0" marL="0" rtl="0" algn="l">
              <a:spcBef>
                <a:spcPts val="136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>
                <a:solidFill>
                  <a:schemeClr val="lt2"/>
                </a:solidFill>
              </a:rPr>
              <a:t>Next: real reply tracking, more case types, live payments.</a:t>
            </a:r>
            <a:endParaRPr sz="1800"/>
          </a:p>
        </p:txBody>
      </p:sp>
      <p:sp>
        <p:nvSpPr>
          <p:cNvPr id="137" name="Google Shape;137;p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325880" y="3749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2103120" y="3749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2880360" y="3749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3657600" y="3749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General information, not legal advice.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claimAI">
  <a:themeElements>
    <a:clrScheme name="ReclaimAI">
      <a:dk1>
        <a:srgbClr val="0F1F3D"/>
      </a:dk1>
      <a:lt1>
        <a:srgbClr val="FFFFFF"/>
      </a:lt1>
      <a:dk2>
        <a:srgbClr val="1B3A6B"/>
      </a:dk2>
      <a:lt2>
        <a:srgbClr val="EAF1F7"/>
      </a:lt2>
      <a:accent1>
        <a:srgbClr val="0E8A68"/>
      </a:accent1>
      <a:accent2>
        <a:srgbClr val="1B3A6B"/>
      </a:accent2>
      <a:accent3>
        <a:srgbClr val="E8A33D"/>
      </a:accent3>
      <a:accent4>
        <a:srgbClr val="5B7DB1"/>
      </a:accent4>
      <a:accent5>
        <a:srgbClr val="C8553D"/>
      </a:accent5>
      <a:accent6>
        <a:srgbClr val="7A8CA5"/>
      </a:accent6>
      <a:hlink>
        <a:srgbClr val="1B3A6B"/>
      </a:hlink>
      <a:folHlink>
        <a:srgbClr val="5B7D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claimAI">
  <a:themeElements>
    <a:clrScheme name="ReclaimAI">
      <a:dk1>
        <a:srgbClr val="0F1F3D"/>
      </a:dk1>
      <a:lt1>
        <a:srgbClr val="FFFFFF"/>
      </a:lt1>
      <a:dk2>
        <a:srgbClr val="1B3A6B"/>
      </a:dk2>
      <a:lt2>
        <a:srgbClr val="EAF1F7"/>
      </a:lt2>
      <a:accent1>
        <a:srgbClr val="0E8A68"/>
      </a:accent1>
      <a:accent2>
        <a:srgbClr val="1B3A6B"/>
      </a:accent2>
      <a:accent3>
        <a:srgbClr val="E8A33D"/>
      </a:accent3>
      <a:accent4>
        <a:srgbClr val="5B7DB1"/>
      </a:accent4>
      <a:accent5>
        <a:srgbClr val="C8553D"/>
      </a:accent5>
      <a:accent6>
        <a:srgbClr val="7A8CA5"/>
      </a:accent6>
      <a:hlink>
        <a:srgbClr val="1B3A6B"/>
      </a:hlink>
      <a:folHlink>
        <a:srgbClr val="5B7D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